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Medium-boldItalic.fntdata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11" Type="http://schemas.openxmlformats.org/officeDocument/2006/relationships/image" Target="../media/image13.png"/><Relationship Id="rId10" Type="http://schemas.openxmlformats.org/officeDocument/2006/relationships/image" Target="../media/image21.png"/><Relationship Id="rId9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653730"/>
            <a:ext cx="883920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10376" y="1889819"/>
            <a:ext cx="9971246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Deepfake Detection Using </a:t>
            </a:r>
            <a:r>
              <a:rPr b="1" i="0" lang="en-US" sz="54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CNN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14712" y="2786955"/>
            <a:ext cx="53625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Major Project Progress Presentation (CA-481)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575434" y="4044255"/>
            <a:ext cx="424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PRESENTATION </a:t>
            </a:r>
            <a:r>
              <a:rPr b="1" i="0" lang="en-US" sz="15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BY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676400" y="4415730"/>
            <a:ext cx="4038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4E4E7"/>
                </a:solidFill>
                <a:latin typeface="Inter Medium"/>
                <a:ea typeface="Inter Medium"/>
                <a:cs typeface="Inter Medium"/>
                <a:sym typeface="Inter Medium"/>
              </a:rPr>
              <a:t>Joyganesh Barat (120710242004)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676400" y="4691955"/>
            <a:ext cx="4038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4E4E7"/>
                </a:solidFill>
                <a:latin typeface="Inter Medium"/>
                <a:ea typeface="Inter Medium"/>
                <a:cs typeface="Inter Medium"/>
                <a:sym typeface="Inter Medium"/>
              </a:rPr>
              <a:t>Sayan Barat (120710242009)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376035" y="4044255"/>
            <a:ext cx="42405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UNDER THE GUIDANCE OF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477000" y="4415730"/>
            <a:ext cx="4038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4E4E7"/>
                </a:solidFill>
                <a:latin typeface="Inter Medium"/>
                <a:ea typeface="Inter Medium"/>
                <a:cs typeface="Inter Medium"/>
                <a:sym typeface="Inter Medium"/>
              </a:rPr>
              <a:t>Prof. Anupam Baidya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477000" y="4691955"/>
            <a:ext cx="4038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4E4E7"/>
                </a:solidFill>
                <a:latin typeface="Inter Medium"/>
                <a:ea typeface="Inter Medium"/>
                <a:cs typeface="Inter Medium"/>
                <a:sym typeface="Inter Medium"/>
              </a:rPr>
              <a:t>Dept. of Computer Application, BCREC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9239" y="699200"/>
            <a:ext cx="2053523" cy="75425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3450" y="1123950"/>
            <a:ext cx="4767050" cy="48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1709725"/>
            <a:ext cx="5586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Deepfakes</a:t>
            </a:r>
            <a:r>
              <a:rPr b="0" i="0" lang="en-US" sz="150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are synthetic media in which a person in an existing image or video is replaced with someone else's likeness using artificial neural networks.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3002927"/>
            <a:ext cx="5586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They leverage advanced machine learning techniques like </a:t>
            </a:r>
            <a:r>
              <a:rPr b="0" i="0" lang="en-US" sz="1500" u="none" cap="none" strike="noStrike">
                <a:solidFill>
                  <a:srgbClr val="00FF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autoencoders</a:t>
            </a:r>
            <a:r>
              <a:rPr b="0" i="0" lang="en-US" sz="150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0" lang="en-US" sz="1500" u="none" cap="none" strike="noStrike">
                <a:solidFill>
                  <a:srgbClr val="00FF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Generative Adversarial Networks (GANs)</a:t>
            </a:r>
            <a:r>
              <a:rPr b="0" i="0" lang="en-US" sz="150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to create highly convincing but entirely fabricated footage.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4319575"/>
            <a:ext cx="5410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While deepfakes have benign applications in entertainment and education, they pose significant societal threats by enabling the rapid spread of digital misinformation, identity theft, and fraudulent activities across the internet.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What is a </a:t>
            </a:r>
            <a:r>
              <a:rPr b="1" i="0" lang="en-US" sz="36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Deepfake</a:t>
            </a:r>
            <a:r>
              <a:rPr b="1" i="0" lang="en-US" sz="36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5">
            <a:alphaModFix/>
          </a:blip>
          <a:srcRect b="6147" l="0" r="0" t="0"/>
          <a:stretch/>
        </p:blipFill>
        <p:spPr>
          <a:xfrm>
            <a:off x="7136800" y="1264763"/>
            <a:ext cx="4200340" cy="444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3132"/>
            <a:ext cx="5334000" cy="4345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23132"/>
            <a:ext cx="5334000" cy="434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62025" y="2141762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Objective &amp; Technology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962025" y="2854672"/>
            <a:ext cx="4552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62025" y="3102322"/>
            <a:ext cx="4553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Primary Objective:</a:t>
            </a:r>
            <a:r>
              <a:rPr b="0" i="0" lang="en-US" sz="135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To develop a robust, offline, deep learning system capable of detecting manipulated "deepfake" videos with exceptionally high accuracy.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4326707"/>
            <a:ext cx="45531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Technology:</a:t>
            </a:r>
            <a:r>
              <a:rPr b="0" i="0" lang="en-US" sz="135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We are utilizing the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EfficientNet-B4</a:t>
            </a:r>
            <a:r>
              <a:rPr b="0" i="0" lang="en-US" sz="135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architecture integrated with transfer learning techniques to accurately classify individual video frames as either genuine or manipulated.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77025" y="2113657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Mechanism &amp; Interface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677025" y="2580382"/>
            <a:ext cx="4552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677025" y="2828032"/>
            <a:ext cx="4553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it works:</a:t>
            </a:r>
            <a:r>
              <a:rPr b="0" i="0" lang="en-US" sz="135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The pipeline extracts frames from a source video, employs Computer Vision algorithms to precisely detect and crop faces, processes these through our trained CNN model, and aggregates frame-level metrics for a final video prediction.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677025" y="4513075"/>
            <a:ext cx="45531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Interface:</a:t>
            </a:r>
            <a:r>
              <a:rPr b="0" i="0" lang="en-US" sz="135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A minimalist, entirely offline Flask web dashboard allowing end-users to upload media and receive real-time analyses, including confidence scores and visual heatmaps.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b="1" i="0" lang="en-US" sz="36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5381625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504950"/>
            <a:ext cx="5381625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38600"/>
            <a:ext cx="5381625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038600"/>
            <a:ext cx="5381625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66775" y="2419350"/>
            <a:ext cx="47910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Handles raw video frame extraction and utilizes OpenCV for precise facial boundary detection and cropping (standardized to 224x224 pixels).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534150" y="2419350"/>
            <a:ext cx="47910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Implements the EfficientNet-B4 CNN backbone with a custom, fine-tuned classification head engineered specifically for real vs. fake binary classification.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4953000"/>
            <a:ext cx="47910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Executes a two-phase training protocol (frozen backbone followed by deep fine-tuning) and dynamically generates evaluation metrics like Accuracy and ROC-AUC.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34150" y="4953000"/>
            <a:ext cx="47910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 responsive, Flask-driven dashboard offering seamless video upload capabilities, frame-by-frame analysis charts, and visual Grad-CAM heatmaps.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66775" y="1900225"/>
            <a:ext cx="393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Preprocessing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81600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6534150" y="1900225"/>
            <a:ext cx="385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 Architecture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48975" y="1800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866775" y="4433875"/>
            <a:ext cx="400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Training Pipeline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81600" y="43338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534150" y="4433875"/>
            <a:ext cx="374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Web Interface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48975" y="43338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24475" y="19431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68037" y="194310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24475" y="44767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977562" y="447675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Module </a:t>
            </a:r>
            <a:r>
              <a:rPr b="1" i="0" lang="en-US" sz="36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Specification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29100"/>
            <a:ext cx="243066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1838325"/>
            <a:ext cx="243066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4229100"/>
            <a:ext cx="243066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9541" y="1638300"/>
            <a:ext cx="243066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/>
          <p:nvPr/>
        </p:nvSpPr>
        <p:spPr>
          <a:xfrm>
            <a:off x="571500" y="3876675"/>
            <a:ext cx="11049000" cy="381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720759" y="4429125"/>
            <a:ext cx="2132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1. Input &amp; Extraction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71525" y="4752975"/>
            <a:ext cx="203061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User uploads a target .mp4 video via the Web UI. The system immediately parses it and extracts visual frames at specified, optimized intervals.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3593440" y="2038350"/>
            <a:ext cx="2132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2. Face Cropping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644205" y="2362200"/>
            <a:ext cx="203061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OpenCV scans extracted frames, intelligently detects facial boundaries, and crops the images to isolate the face for targeted CNN analysis.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466120" y="4429125"/>
            <a:ext cx="2132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3. Classification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516885" y="4752975"/>
            <a:ext cx="203061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Processed faces are fed chronologically into the trained EfficientNet-B4 neural network to compute a distinct "fake probability" per frame.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338801" y="1838325"/>
            <a:ext cx="2132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4. Aggregation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389566" y="2162175"/>
            <a:ext cx="203061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Frame probabilities are mathematically averaged to render a final video verdict, visualized alongside Grad-CAM heatmaps to highlight manipulation.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b="1" i="0" lang="en-US" sz="36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Flow</a:t>
            </a:r>
            <a:r>
              <a:rPr b="1" i="0" lang="en-US" sz="36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 &amp; Execution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1672530" y="3781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9090B"/>
          </a:solidFill>
          <a:ln cap="flat" cmpd="sng" w="38100">
            <a:solidFill>
              <a:srgbClr val="00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545210" y="3781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9090B"/>
          </a:solidFill>
          <a:ln cap="flat" cmpd="sng" w="38100">
            <a:solidFill>
              <a:srgbClr val="00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417891" y="3781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9090B"/>
          </a:solidFill>
          <a:ln cap="flat" cmpd="sng" w="38100">
            <a:solidFill>
              <a:srgbClr val="00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10290571" y="37814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9090B"/>
          </a:solidFill>
          <a:ln cap="flat" cmpd="sng" w="38100">
            <a:solidFill>
              <a:srgbClr val="00F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1500" y="571500"/>
            <a:ext cx="555069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Recent Work </a:t>
            </a:r>
            <a:r>
              <a:rPr b="1" i="0" lang="en-US" sz="36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Progress</a:t>
            </a:r>
            <a:endParaRPr/>
          </a:p>
        </p:txBody>
      </p:sp>
      <p:pic>
        <p:nvPicPr>
          <p:cNvPr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2589" r="2589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904875" y="1695450"/>
            <a:ext cx="49530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Initial Setup Completed</a:t>
            </a:r>
            <a:r>
              <a:rPr b="0" i="0" lang="en-US" sz="135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Project structure established, virtual environments active, and all deep learning dependencies firmly configured.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04875" y="2828925"/>
            <a:ext cx="49530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 Interface Built</a:t>
            </a:r>
            <a:r>
              <a:rPr b="0" i="0" lang="en-US" sz="135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The minimal dark-theme Flask application covering the core upload and analytics result pages has been fully integrated.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04875" y="3962400"/>
            <a:ext cx="49530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Pipeline Finalized</a:t>
            </a:r>
            <a:r>
              <a:rPr b="0" i="0" lang="en-US" sz="135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We have engineered resilient scripts (`data_preprocessing.py`) handling automated data ingestion and precise face cropping.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04875" y="5353050"/>
            <a:ext cx="49530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 Logic Implemented</a:t>
            </a:r>
            <a:r>
              <a:rPr b="0" i="0" lang="en-US" sz="135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The EfficientNet-B4 architecture (`model.py`) and corresponding local inference loops (`predict.py`) are successfully coded and currently undergoing fine-tuning.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049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384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719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362575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4208"/>
            <a:ext cx="11049000" cy="4263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1628775" y="2249983"/>
            <a:ext cx="9505950" cy="94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Foundation Established:</a:t>
            </a:r>
            <a:r>
              <a:rPr b="0" i="0" lang="en-US" sz="150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We have successfully laid the technical groundwork for an efficient, fully offline deepfake detection system. The data extraction protocols and core web UI modules are actively functional.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628775" y="3575744"/>
            <a:ext cx="9505950" cy="94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Immediate Next Steps:</a:t>
            </a:r>
            <a:r>
              <a:rPr b="0" i="0" lang="en-US" sz="150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We are transitioning to complete full-scale model training leveraging benchmark datasets (such as FaceForensics++ or Celeb-DF) and will subsequently generate detailed evaluation matrices including ROC curves.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628775" y="4901505"/>
            <a:ext cx="95059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Ultimate Goal:</a:t>
            </a:r>
            <a:r>
              <a:rPr b="0" i="0" lang="en-US" sz="1500" u="none" cap="none" strike="noStrike">
                <a:solidFill>
                  <a:srgbClr val="D4D4D8"/>
                </a:solidFill>
                <a:latin typeface="Inter"/>
                <a:ea typeface="Inter"/>
                <a:cs typeface="Inter"/>
                <a:sym typeface="Inter"/>
              </a:rPr>
              <a:t> To deploy a highly accurate, lightweight, and explainable software tool capable of actively combating digital misinformation without relying on compromised third-party cloud APIs.</a:t>
            </a:r>
            <a:endParaRPr/>
          </a:p>
        </p:txBody>
      </p:sp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2264271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359003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4915792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Conclusion &amp; Future </a:t>
            </a:r>
            <a:r>
              <a:rPr b="1" i="0" lang="en-US" sz="3600" u="none" cap="none" strike="noStrik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Scope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